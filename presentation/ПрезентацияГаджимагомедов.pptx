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31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титульном слайде называю тему проекта. Кратко поясняю, что проект связан с анализом поведения пользователей интернет-магазина и прогнозированием вероятности покупки на основе данных пользовательских сессий.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объясняю актуальность: интернет-магазинам важно не только фиксировать покупки, но и заранее видеть вероятность целевого действия. Цель — анализ поведения и построение модели прогноза.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формулирую задачу: нужно определить, завершится ли сессия покупкой. Revenue — целевой признак. Ноль означает отсутствие покупки, единица — покупку.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этапе подготовки данные были загружены, проверены на пропуски и дубликаты. Пропусков не было, 125 дубликатов удалены. Для модели категориальные признаки закодированы методом one-hot encoding.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Показываю дашборд Power BI. Он нужен для наглядного представления результатов: сессии, покупки, конверсия, распределение покупок и средний PageValues.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показываю три базовых результата EDA: распределение Revenue, конверсию по типу посетителя и конверсию по месяцам. Основной вывод — есть дисбаланс классов и сезонность.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объясняю, что PageValues оказался ключевым признаком. Он показывает ценность просмотренных страниц. Высокие значения связаны с большей вероятностью покупки.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проекте обучены три модели: логистическая регрессия, дерево решений и случайный лес. Данные делились 80/20, классы балансировались параметром class_weight.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сравниваю метрики моделей и ROC-кривые. Random Forest получила лучший F1-score и ROC-AUC, поэтому выбрана итоговой моделью.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объясняю матрицу ошибок и важность признаков. Модель правильно нашла большую часть покупок. Самый значимый признак — PageValues.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завершение подводим итог: реализован полный цикл работы с данными от загрузки до интерпретации модели. Модель можно использовать как вспомогательный инструмент для маркетинга.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4572000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718304" y="0"/>
            <a:ext cx="745236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68580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</a:rPr>
              <a:t>Итоговый проект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47349"/>
            <a:ext cx="3941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Анализ поведения пользователей интернет-магазина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</a:rPr>
              <a:t>и прогнозирование вероятности покупки с использованием Python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Гаджимагомедов Юнус Умрудинович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248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ДПП «Python. Анализ данных в маркетинге»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960120"/>
            <a:ext cx="3840480" cy="3840480"/>
          </a:xfrm>
          <a:prstGeom prst="arc">
            <a:avLst/>
          </a:prstGeom>
          <a:solidFill>
            <a:srgbClr val="FFFFFF">
              <a:alpha val="0"/>
            </a:srgbClr>
          </a:solidFill>
          <a:ln w="10160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57784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12 205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77840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сессий после очистки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B8A6"/>
                </a:solidFill>
              </a:rPr>
              <a:t>15,63%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95360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общая конверсия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866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0,9281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086600" y="4133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950" dirty="0">
                <a:solidFill>
                  <a:srgbClr val="64748B"/>
                </a:solidFill>
              </a:rPr>
              <a:t>ROC-AUC итоговой модели</a:t>
            </a:r>
            <a:endParaRPr lang="en-US" sz="950" dirty="0">
              <a:solidFill>
                <a:srgbClr val="64748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Актуальность и цель проекта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Почему прогноз покупки важен для интернет-магазина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Интернет-магазины накапливают данные о действиях пользователей: просмотрах страниц, времени сессии, типе посетителя и факте покупки.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5074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Анализ таких данных помогает понять поведение аудитории и факторы, влияющие на покупку.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44368"/>
            <a:ext cx="5074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Прогноз вероятности покупки позволяет выделять более перспективные пользовательские сессии.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57016"/>
            <a:ext cx="5074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Результаты можно использовать для персонализации предложений, ретаргетинга и анализа пользовательского пути.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42976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6537960" y="1417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537960" y="17190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Данные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пользовательские сессии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1143000" cy="11430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321040" y="17190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9244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Анализ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конверсия и признаки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04120" y="1417320"/>
            <a:ext cx="1143000" cy="1143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0104120" y="17190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7552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Модель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вероятность покупки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Цель проекта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983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</a:rPr>
              <a:t>провести анализ поведения пользователей интернет-магазина и построить модель прогнозирования вероятности совершения покупки.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Постановка задачи и данные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Задача решается как бинарная классификация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Целевая переменная Revenue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5603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2084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покупка не совершена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256032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17320" y="33649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покупка совершена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0789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</a:rPr>
              <a:t>Online Shoppers Purchasing Intention Dataset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Строки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12 330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2130552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Столбцы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18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2816352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Тип данных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табличные сессии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3502152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Задача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бинарная классификация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46320" y="4187952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846320" y="4892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Каждая строка — отдельная пользовательская сессия. Признаки описывают действия пользователя на сайте, технические параметры посещения и факт покупки.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Загрузка и предварительная обработка данных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Переход от исходной таблицы к набору для модели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12 330 × 18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1527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исходный датасет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B8A6"/>
                </a:solidFill>
              </a:rPr>
              <a:t>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383280" y="1527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пропусков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125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126480" y="1527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дубликатов удалено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6968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766E"/>
                </a:solidFill>
              </a:rPr>
              <a:t>12 205 × 69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869680" y="1527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датасет для модели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154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6012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CSV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37307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загрузка через pandas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0" y="3749040"/>
            <a:ext cx="5486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611880" y="3154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74904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Очистка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749040" y="37307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проверка пропусков и дубликатов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0" y="3749040"/>
            <a:ext cx="5486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6400800" y="3154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53796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Кодирование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37960" y="37307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логические и категориальные признаки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0" y="3749040"/>
            <a:ext cx="54864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9189720" y="3154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932688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ML-набор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26880" y="37307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model_data.csv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9728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</a:rPr>
              <a:t>Промежуточный результат: cleaned_data.csv для анализа и model_data.csv для построения моделей.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Дашборд результатов анализа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Ключевые показатели пользовательских сессий в Power BI</a:t>
            </a:r>
            <a:endParaRPr lang="en-US" sz="1050" dirty="0"/>
          </a:p>
        </p:txBody>
      </p:sp>
      <p:pic>
        <p:nvPicPr>
          <p:cNvPr id="6" name="Image 0" descr="/mnt/data/project_images/13_power_b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1884"/>
            <a:ext cx="7315200" cy="4162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Сводная панель показывает: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0" y="1920240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общее количество сессий и покупок;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2331720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уровень конверсии 15,63%;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2743200"/>
            <a:ext cx="30175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сезонность: пик конверсии в ноябре;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3246120"/>
            <a:ext cx="30175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рост PageValues у сессий с покупкой;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206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563EB"/>
                </a:solidFill>
              </a:rPr>
              <a:t>Дашборд</a:t>
            </a:r>
            <a:r>
              <a:rPr lang="en-US" sz="1600" b="1" dirty="0">
                <a:solidFill>
                  <a:srgbClr val="2563EB"/>
                </a:solidFill>
              </a:rPr>
              <a:t> </a:t>
            </a:r>
            <a:r>
              <a:rPr lang="en-US" sz="1600" b="1" dirty="0" err="1">
                <a:solidFill>
                  <a:srgbClr val="2563EB"/>
                </a:solidFill>
              </a:rPr>
              <a:t>использ</a:t>
            </a:r>
            <a:r>
              <a:rPr lang="ru-RU" sz="1600" b="1" dirty="0" err="1">
                <a:solidFill>
                  <a:srgbClr val="2563EB"/>
                </a:solidFill>
              </a:rPr>
              <a:t>уется</a:t>
            </a:r>
            <a:r>
              <a:rPr lang="en-US" sz="1600" b="1" dirty="0">
                <a:solidFill>
                  <a:srgbClr val="2563EB"/>
                </a:solidFill>
              </a:rPr>
              <a:t> как инструмент быстрого анализа поведения пользователей.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Исследовательский анализ: конверсия и сезонность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Что показывают базовые графики</a:t>
            </a:r>
            <a:endParaRPr lang="en-US" sz="1050" dirty="0"/>
          </a:p>
        </p:txBody>
      </p:sp>
      <p:pic>
        <p:nvPicPr>
          <p:cNvPr id="6" name="Image 0" descr="/mnt/data/project_images/01_revenu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3657600" cy="2286000"/>
          </a:xfrm>
          <a:prstGeom prst="rect">
            <a:avLst/>
          </a:prstGeom>
        </p:spPr>
      </p:pic>
      <p:pic>
        <p:nvPicPr>
          <p:cNvPr id="7" name="Image 1" descr="/mnt/data/project_images/02_visitor_type_conver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36040"/>
            <a:ext cx="3749040" cy="2082800"/>
          </a:xfrm>
          <a:prstGeom prst="rect">
            <a:avLst/>
          </a:prstGeom>
        </p:spPr>
      </p:pic>
      <p:pic>
        <p:nvPicPr>
          <p:cNvPr id="8" name="Image 2" descr="/mnt/data/project_images/03_monthly_conver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463040"/>
            <a:ext cx="3657600" cy="1828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397764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5"/>
          <p:cNvSpPr/>
          <p:nvPr/>
        </p:nvSpPr>
        <p:spPr>
          <a:xfrm>
            <a:off x="731520" y="40507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Дисбаланс классов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40080" y="4434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Сессий без покупки значительно больше, чем с покупкой.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389120" y="397764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14B8A6">
              <a:alpha val="9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8"/>
          <p:cNvSpPr/>
          <p:nvPr/>
        </p:nvSpPr>
        <p:spPr>
          <a:xfrm>
            <a:off x="4480560" y="40507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Новые посетители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389120" y="4434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Максимальная конверсия по типу посетителя — New_Visitor: 24,93%.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75320" y="397764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1"/>
          <p:cNvSpPr/>
          <p:nvPr/>
        </p:nvSpPr>
        <p:spPr>
          <a:xfrm>
            <a:off x="8366760" y="40507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Сезонность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275320" y="4434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Пик конверсии наблюдается в ноябре: 25,49%.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Факторы, связанные с покупкой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PageValues — ключевой признак в данных</a:t>
            </a:r>
            <a:endParaRPr lang="en-US" sz="1050" dirty="0"/>
          </a:p>
        </p:txBody>
      </p:sp>
      <p:pic>
        <p:nvPicPr>
          <p:cNvPr id="6" name="Image 0" descr="/mnt/data/project_images/04_page_values_b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1960"/>
            <a:ext cx="5440680" cy="3022600"/>
          </a:xfrm>
          <a:prstGeom prst="rect">
            <a:avLst/>
          </a:prstGeom>
        </p:spPr>
      </p:pic>
      <p:pic>
        <p:nvPicPr>
          <p:cNvPr id="7" name="Image 1" descr="/mnt/data/project_images/07_top_correlations_with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91056"/>
            <a:ext cx="5440680" cy="3264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557784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Вывод: у сессий с покупкой значения PageValues заметно выше. Также с покупкой связаны ProductRelated, ProductRelated_Duration и показатели отказов/выходов.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Построение моделей машинного обучения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Сравнение трех подходов к бинарной классификации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41832" y="173736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</a:rPr>
              <a:t>Logistic Regression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базовая линейная модель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4712" y="2880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интерпретируемый ориентир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736592" y="173736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</a:rPr>
              <a:t>Decision Tree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дерево решений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2880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нелинейные зависимости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531352" y="173736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Random Forest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4108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ансамбль деревьев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14232" y="2880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итоговая модель проекта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0" y="36576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9052560" y="37307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выбрана по F1-score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</a:rPr>
              <a:t>Данные были разделены на обучающую и тестовую выборки в соотношении 80/20. Для учета дисбаланса классов использован параметр class_weight="balanced".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Оценка качества моделей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Random Forest показала лучший баланс метрик</a:t>
            </a:r>
            <a:endParaRPr lang="en-US" sz="1050" dirty="0"/>
          </a:p>
        </p:txBody>
      </p:sp>
      <p:pic>
        <p:nvPicPr>
          <p:cNvPr id="6" name="Image 0" descr="/mnt/data/project_images/08_model_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5529"/>
            <a:ext cx="5486400" cy="2992582"/>
          </a:xfrm>
          <a:prstGeom prst="rect">
            <a:avLst/>
          </a:prstGeom>
        </p:spPr>
      </p:pic>
      <p:pic>
        <p:nvPicPr>
          <p:cNvPr id="7" name="Image 1" descr="/mnt/data/project_images/10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60145"/>
            <a:ext cx="5257800" cy="39433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5440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0,8677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914400" y="5824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Accuracy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926080" y="5440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0,5515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2926080" y="5824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Precision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937760" y="5440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0,8272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4937760" y="5824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Recall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949440" y="5440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0,6618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6949440" y="5824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F1-score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961120" y="5440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0,9281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8961120" y="5824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ROC-AUC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модель: ошибки и важные признаки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Random Forest хорошо выявляет реальные покупки</a:t>
            </a:r>
            <a:endParaRPr lang="en-US" sz="1050" dirty="0"/>
          </a:p>
        </p:txBody>
      </p:sp>
      <p:pic>
        <p:nvPicPr>
          <p:cNvPr id="6" name="Image 0" descr="/mnt/data/project_images/09_confusion_matrix_bes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9166"/>
            <a:ext cx="4983480" cy="3559629"/>
          </a:xfrm>
          <a:prstGeom prst="rect">
            <a:avLst/>
          </a:prstGeom>
        </p:spPr>
      </p:pic>
      <p:pic>
        <p:nvPicPr>
          <p:cNvPr id="7" name="Image 1" descr="/mnt/data/project_images/11_random_forest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172718"/>
            <a:ext cx="5989320" cy="41925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34155"/>
                </a:solidFill>
              </a:rPr>
              <a:t>Матрица ошибок: 316 покупок определены верно, 66 реальных покупок пропущены.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89788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34155"/>
                </a:solidFill>
              </a:rPr>
              <a:t>Самый важный признак модели — PageValues; далее ExitRates и ProductRelated_Duration.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 проекта и практическая значимость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Что удалось получить в результате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</a:rPr>
              <a:t>Цель достигнута: построена модель, прогнозирующая вероятность покупки по признакам пользовательской сессии.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60020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Данные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19933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12 205 очищенных сессий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2788920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60020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Анализ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70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конверсия 15,63% и сезонность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56616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60020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Модель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547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Random Forest, ROC-AUC 0,9281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7280" y="434340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60020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Интерпретация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4325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PageValues — ключевой фактор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5486400"/>
            <a:ext cx="99669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143000" y="5715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Практическое применение: персонализация предложений, ретаргетинг, анализ пользовательского пути и поддержка маркетинговых решений.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Python. Анализ данных в маркетинге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941</Words>
  <Application>Microsoft Office PowerPoint</Application>
  <PresentationFormat>Широкоэкранный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СПбПУ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Анализ поведения пользователей интернет-магазина</dc:subject>
  <dc:creator>Гаджимагомедов Юнус Умрудинович</dc:creator>
  <cp:lastModifiedBy>Гаджимагомедов Юнус Умрудинович</cp:lastModifiedBy>
  <cp:revision>2</cp:revision>
  <dcterms:created xsi:type="dcterms:W3CDTF">2026-06-18T12:27:45Z</dcterms:created>
  <dcterms:modified xsi:type="dcterms:W3CDTF">2026-06-18T12:53:18Z</dcterms:modified>
</cp:coreProperties>
</file>